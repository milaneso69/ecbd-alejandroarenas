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7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Balance de clases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Riesgo de burnout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49B-4E09-80DC-3B1D90ED7374}"/>
              </c:ext>
            </c:extLst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49B-4E09-80DC-3B1D90ED737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49B-4E09-80DC-3B1D90ED737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MX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49B-4E09-80DC-3B1D90ED737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 riesgo alto (75.0%)</c:v>
                </c:pt>
                <c:pt idx="1">
                  <c:v>Riesgo alto (25.0%)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75.03</c:v>
                </c:pt>
                <c:pt idx="1">
                  <c:v>24.97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49B-4E09-80DC-3B1D90ED73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8C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Coeficiente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431-47EE-983D-6D22AD9B0CE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431-47EE-983D-6D22AD9B0CE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431-47EE-983D-6D22AD9B0CE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431-47EE-983D-6D22AD9B0CE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431-47EE-983D-6D22AD9B0CE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8431-47EE-983D-6D22AD9B0CEE}"/>
              </c:ext>
            </c:extLst>
          </c:dPt>
          <c:dPt>
            <c:idx val="6"/>
            <c:invertIfNegative val="0"/>
            <c:bubble3D val="0"/>
            <c:spPr>
              <a:solidFill>
                <a:srgbClr val="1E8F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431-47EE-983D-6D22AD9B0CEE}"/>
              </c:ext>
            </c:extLst>
          </c:dPt>
          <c:dPt>
            <c:idx val="7"/>
            <c:invertIfNegative val="0"/>
            <c:bubble3D val="0"/>
            <c:spPr>
              <a:solidFill>
                <a:srgbClr val="1E8F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8431-47EE-983D-6D22AD9B0CE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1B2F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Horas semanales con IA (+)</c:v>
                </c:pt>
                <c:pt idx="1">
                  <c:v>Año: Graduado (+)</c:v>
                </c:pt>
                <c:pt idx="2">
                  <c:v>Año: Senior (+)</c:v>
                </c:pt>
                <c:pt idx="3">
                  <c:v>Año: Junior (+)</c:v>
                </c:pt>
                <c:pt idx="4">
                  <c:v>Dependencia percibida de IA (+)</c:v>
                </c:pt>
                <c:pt idx="5">
                  <c:v>Política: prohibición estricta (+)</c:v>
                </c:pt>
                <c:pt idx="6">
                  <c:v>Horas de estudio tradicional (–)</c:v>
                </c:pt>
                <c:pt idx="7">
                  <c:v>GPA previo al semestre (–)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0.99</c:v>
                </c:pt>
                <c:pt idx="1">
                  <c:v>0.48</c:v>
                </c:pt>
                <c:pt idx="2">
                  <c:v>0.3</c:v>
                </c:pt>
                <c:pt idx="3">
                  <c:v>0.24</c:v>
                </c:pt>
                <c:pt idx="4">
                  <c:v>0.22</c:v>
                </c:pt>
                <c:pt idx="5">
                  <c:v>0.16</c:v>
                </c:pt>
                <c:pt idx="6">
                  <c:v>-0.17</c:v>
                </c:pt>
                <c:pt idx="7">
                  <c:v>-0.18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8431-47EE-983D-6D22AD9B0C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B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75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2A357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24306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HACER DESEMPEÑO</a:t>
            </a:r>
          </a:p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Arenas Lopez Alejandro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 de Burnout en Estudiantes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Usan IA Generativa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de Regresión Logística entrenado sobre 50,000 estudiantes, para identificar patrones de uso de IA generativa asociados a un riesgo alto de agotamiento académico.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10058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C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ejecutiva de resultados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669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uso de IA generativa (ChatGPT, Copilot, etc.) ya es parte cotidiana del estudio universitario. Más allá de si ayuda o no al desempeño académico, </a:t>
            </a: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interesa un efecto colateral poco discutido: el riesgo de burnout (agotamiento académico) </a:t>
            </a:r>
            <a:r>
              <a:rPr lang="en-US" sz="1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asociado a los hábitos de uso de estas herramientas.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34290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que responde el modelo: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5669280" cy="1371600"/>
          </a:xfrm>
          <a:prstGeom prst="roundRect">
            <a:avLst>
              <a:gd name="adj" fmla="val 6667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¿Se puede predecir si un estudiante presenta riesgo de burnout alto, a partir de su perfil académico y su patrón de uso de IA generativa?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0" y="12801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76656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06640" y="12344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académico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06640" y="15544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Carrera, año, GPA antes y después del semestre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0" y="2331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7665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06640" y="22860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IA generativa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06640" y="26060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semanales, herramientas, nivel de prompting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33832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76656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06640" y="33375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Bienestar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06640" y="36576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Ansiedad en exámenes, dependencia percibida, estudio tradicional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Hacer Desempeño  ·  Riesgo de Burnout en Estudiantes que Usan IA Generativa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dataset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ai_student_impact_dataset.csv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6060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337560" y="17830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74720" y="26060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originales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126480" y="17830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63640" y="26060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nulos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8915400" y="178308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24.97%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52560" y="26060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riesgo de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alto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objetivo construida para el modelo: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41605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Burnout_Alto </a:t>
            </a: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si el estudiante reporta riesgo de burnout </a:t>
            </a: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"High"</a:t>
            </a: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= 0 si reporta </a:t>
            </a:r>
            <a:r>
              <a:rPr lang="en-US" sz="1300" i="1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"Low"</a:t>
            </a: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3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"Medium"</a:t>
            </a: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7955280" y="4480560"/>
          <a:ext cx="35661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Hacer Desempeño  ·  Riesgo de Burnout en Estudiantes que Usan IA Generativa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flujo y modelo usados en la práctica de referencia (Lab20 · Titanic), aplicados a este nuevo dataset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148840" cy="310896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713232" y="2103120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8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13232" y="2697480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y verificación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3520440"/>
            <a:ext cx="18196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registros, sin valores nulos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15768" y="3108960"/>
            <a:ext cx="30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862072" y="1920240"/>
            <a:ext cx="2148840" cy="3108960"/>
          </a:xfrm>
          <a:prstGeom prst="roundRect">
            <a:avLst>
              <a:gd name="adj" fmla="val 3404"/>
            </a:avLst>
          </a:prstGeom>
          <a:solidFill>
            <a:srgbClr val="2E3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3026664" y="2103120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8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026664" y="2697480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del target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26664" y="3520440"/>
            <a:ext cx="18196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Burnout_Alto: High = 1, Low/Medium = 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0" y="3108960"/>
            <a:ext cx="30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175504" y="1920240"/>
            <a:ext cx="2148840" cy="310896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340096" y="2103120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8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340096" y="2697480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División 80/20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0096" y="3520440"/>
            <a:ext cx="18196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Estratificada, random_state=42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342632" y="3108960"/>
            <a:ext cx="30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88936" y="1920240"/>
            <a:ext cx="2148840" cy="3108960"/>
          </a:xfrm>
          <a:prstGeom prst="roundRect">
            <a:avLst>
              <a:gd name="adj" fmla="val 3404"/>
            </a:avLst>
          </a:prstGeom>
          <a:solidFill>
            <a:srgbClr val="2E3A82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7653528" y="2103120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8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653528" y="2697480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53528" y="3520440"/>
            <a:ext cx="18196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(skill) y one-hot (categóricas)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656064" y="3108960"/>
            <a:ext cx="301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802368" y="1920240"/>
            <a:ext cx="2148840" cy="3108960"/>
          </a:xfrm>
          <a:prstGeom prst="roundRect">
            <a:avLst>
              <a:gd name="adj" fmla="val 340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9966960" y="2103120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C8F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966960" y="2697480"/>
            <a:ext cx="18196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Escalado + Regresión Logística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966960" y="3520440"/>
            <a:ext cx="181965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+ LogisticRegression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Hacer Desempeño  ·  Riesgo de Burnout en Estudiantes que Usan IA Generativa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clave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 evaluada sobre 10,000 estudiantes de prueba (20% del dataset)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2A3579"/>
          </a:solidFill>
          <a:ln w="12700">
            <a:solidFill>
              <a:srgbClr val="3C4A9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81.2%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(exactitud general)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2A3579"/>
          </a:solidFill>
          <a:ln w="12700">
            <a:solidFill>
              <a:srgbClr val="3C4A9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337560" y="19659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474720" y="28803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(capacidad de separación)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2A3579"/>
          </a:solidFill>
          <a:ln w="12700">
            <a:solidFill>
              <a:srgbClr val="3C4A9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126480" y="19659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63640" y="28803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'riesgo alto'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15400" y="173736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2A3579"/>
          </a:solidFill>
          <a:ln w="12700">
            <a:solidFill>
              <a:srgbClr val="3C4A9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8915400" y="196596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052560" y="28803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'riesgo alto'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182253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86868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8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ejecutiva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66344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identifica correctamente a la mayoría de los estudiantes sin riesgo alto, pero solo detecta a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cada 10 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que sí están en riesgo de burnout alto (recall = 40%). Antes de usarlo como alerta institucional automática conviene ajustar el umbral de decisión o reforzarlo con más señales, priorizando no dejar pasar casos reales.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Hacer Desempeño  ·  Riesgo de Burnout en Estudiantes que Usan IA Generativa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confusión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estudiantes del conjunto de prueba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97280" y="1920240"/>
            <a:ext cx="28346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25400">
            <a:solidFill>
              <a:srgbClr val="1E8F5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097280" y="208483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8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7,116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34440" y="2788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 negativo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predicho: no riesgo · real: no riesgo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069080" y="1920240"/>
            <a:ext cx="28346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069080" y="208483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06240" y="2788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positivo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predicho: riesgo alto · real: no riesgo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97280" y="3794760"/>
            <a:ext cx="28346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254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1097280" y="395935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1,497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34440" y="4663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 negativo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4983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predicho: no riesgo · real: riesgo alto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69080" y="3794760"/>
            <a:ext cx="2834640" cy="17373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 w="25400">
            <a:solidFill>
              <a:srgbClr val="1E8F5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4069080" y="3959352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8F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206240" y="4663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 positivo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4983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predicho: riesgo alto · real: riesgo alto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0" y="19202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importa aquí: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0" y="2331720"/>
            <a:ext cx="4206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1,497 falsos negativos: </a:t>
            </a: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en riesgo real que el modelo no detectó — el costo más alto en este problema.
</a:t>
            </a:r>
            <a:r>
              <a:rPr lang="en-US" sz="12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387 falsos positivos: </a:t>
            </a: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riesgo que no se confirmaron — costo bajo, solo revisión extra.
</a:t>
            </a:r>
            <a:r>
              <a:rPr lang="en-US" sz="1250" b="1" dirty="0">
                <a:solidFill>
                  <a:srgbClr val="1E8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8,116 aciertos totales </a:t>
            </a: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10,000 estudiantes evaluados.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Hacer Desempeño  ·  Riesgo de Burnout en Estudiantes que Usan IA Generativa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más influyentes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de la Regresión Logística (variables escaladas) — positivo aumenta el riesgo, negativo lo reduce</a:t>
            </a:r>
            <a:endParaRPr lang="en-US" sz="12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110642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Hacer Desempeño  ·  Riesgo de Burnout en Estudiantes que Usan IA Generativa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Interpretación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1188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intensivo de IA, el mayor factor de riesgo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53619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Weekly_GenAI_Hours tiene, por sí solo, el coeficiente más alto de todo el modelo: a más horas semanales con IA generativa, mayor probabilidad de riesgo de burnout alto.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548640" y="24414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3957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año académico avanzado eleva el riesgo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74320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estudiante de posgrado, senior o junior aumenta el riesgo frente a freshman/sophomore — coincide con mayor carga académica acumulada.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48456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548640" y="36484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3602736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Depender de la IA pesa más que usarla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95020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Perceived_AI_Dependency (dependencia percibida) tiene más peso que la diversidad de herramientas usadas — importa cómo se relaciona el estudiante con la IA, no solo cuánta variedad usa.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55464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48640" y="48554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80974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Estudiar 'a la antigua' y buen GPA previo, protegen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43000" y="5157216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Traditional_Study_Hours y Pre_Semester_GPA tienen coeficientes negativos: más hábito de estudio propio y mejor punto de partida académico se asocian a menor riesgo.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Hacer Desempeño  ·  Riesgo de Burnout en Estudiantes que Usan IA Generativa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recomendaciones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 modelo separa razonablemente bien a los estudiantes en riesgo alto (AUC 0.80), aunque el recall (40%) todavía deja casos reales sin detectar.
• El uso intensivo de IA generativa y la dependencia percibida hacia ella son las señales más fuertes de riesgo, por encima incluso del año académico.
• A diferencia del dataset de referencia (Titanic), aquí la variable objetivo tuvo que construirse a partir de una columna de 3 categorías, una decisión de diseño explícita.
• Al ser datos simulados, las relaciones reflejan la lógica de generación del dataset, no necesariamente comportamiento real.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6446520" y="1463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1874520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Usar el modelo como filtro de priorización de apoyo psicológico, no como decisión automática — el 40% de recall exige revisión humana de los casos negativos.
• Explorar un umbral de decisión más bajo que 0.5 para subir el recall de la clase de riesgo, aceptando más falsos positivos a cambio.
• Complementar el monitoreo institucional con límites recomendados de horas semanales de uso de IA, dado su peso dominante en el modelo.
• Validar el modelo con datos reales de la institución antes de cualquier uso operativo.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Hacer Desempeño  ·  Riesgo de Burnout en Estudiantes que Usan IA Generativa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389120" cy="4389120"/>
          </a:xfrm>
          <a:prstGeom prst="ellipse">
            <a:avLst/>
          </a:prstGeom>
          <a:solidFill>
            <a:srgbClr val="2A357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611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Hacer Desempeño · Regresión Logística aplicada a riesgo de burnout por uso de IA generativa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1085</Words>
  <Application>Microsoft Office PowerPoint</Application>
  <PresentationFormat>Panorámica</PresentationFormat>
  <Paragraphs>131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</cp:lastModifiedBy>
  <cp:revision>3</cp:revision>
  <dcterms:created xsi:type="dcterms:W3CDTF">2026-07-18T01:17:01Z</dcterms:created>
  <dcterms:modified xsi:type="dcterms:W3CDTF">2026-07-18T01:20:30Z</dcterms:modified>
</cp:coreProperties>
</file>